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4B3496-6944-451E-9C56-0B8F801E9FF6}">
  <a:tblStyle styleId="{904B3496-6944-451E-9C56-0B8F801E9F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0b68d7ac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0b68d7ac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11a0d6dc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11a0d6dc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f5e0a508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f5e0a508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0b68d7aca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0b68d7ac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0b68d7aca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0b68d7ac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0b68d7ac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0b68d7ac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0b68d7ac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0b68d7ac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f5e0a508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6f5e0a508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0b68d7ac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0b68d7ac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0b68d7ac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0b68d7ac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0b68d7aca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0b68d7aca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0b68d7aca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0b68d7ac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0b68d7aca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0b68d7aca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0b68d7aca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0b68d7aca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0b68d7aca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0b68d7aca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0b68d7aca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0b68d7aca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0b68d7ac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0b68d7ac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0b68d7ac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0b68d7ac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0b68d7ac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0b68d7ac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0b68d7aca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0b68d7aca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0b68d7ac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0b68d7ac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0b68d7aca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70b68d7aca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0b68d7aca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0b68d7aca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0b68d7aca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0b68d7aca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6f5e0a508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6f5e0a508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x.com/RLanceMartin" TargetMode="External"/><Relationship Id="rId4" Type="http://schemas.openxmlformats.org/officeDocument/2006/relationships/image" Target="../media/image7.png"/><Relationship Id="rId11" Type="http://schemas.openxmlformats.org/officeDocument/2006/relationships/image" Target="../media/image1.png"/><Relationship Id="rId10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hyperlink" Target="https://www.dbreunig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anthropic.com/engineering/built-multi-agent-research-system" TargetMode="External"/><Relationship Id="rId4" Type="http://schemas.openxmlformats.org/officeDocument/2006/relationships/hyperlink" Target="https://manus.im/blog/Context-Engineering-for-AI-Agents-Lessons-from-Building-Manu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research.trychroma.com/context-rot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dbreunig.com/2025/06/22/how-contexts-fail-and-how-to-fix-them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x.com/karpathy/status/1937902205765607626?ref=blog.langchain.com" TargetMode="External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x.com/swyx/status/1946100121038696671" TargetMode="External"/><Relationship Id="rId4" Type="http://schemas.openxmlformats.org/officeDocument/2006/relationships/hyperlink" Target="http://drive.google.com/file/d/179RbajC0Ai4t-hTsbc71aBCVqxm-_Qgu/view" TargetMode="External"/><Relationship Id="rId5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dbreunig.com/2025/06/26/how-to-fix-your-context.html" TargetMode="External"/><Relationship Id="rId4" Type="http://schemas.openxmlformats.org/officeDocument/2006/relationships/hyperlink" Target="https://www.anthropic.com/engineering/built-multi-agent-research-system" TargetMode="External"/><Relationship Id="rId9" Type="http://schemas.openxmlformats.org/officeDocument/2006/relationships/hyperlink" Target="https://github.com/langchain-ai/agents-from-scratch" TargetMode="External"/><Relationship Id="rId5" Type="http://schemas.openxmlformats.org/officeDocument/2006/relationships/hyperlink" Target="http://todo.md" TargetMode="External"/><Relationship Id="rId6" Type="http://schemas.openxmlformats.org/officeDocument/2006/relationships/hyperlink" Target="https://manus.im/blog/Context-Engineering-for-AI-Agents-Lessons-from-Building-Manus" TargetMode="External"/><Relationship Id="rId7" Type="http://schemas.openxmlformats.org/officeDocument/2006/relationships/hyperlink" Target="https://manus.im/blog/Context-Engineering-for-AI-Agents-Lessons-from-Building-Manus" TargetMode="External"/><Relationship Id="rId8" Type="http://schemas.openxmlformats.org/officeDocument/2006/relationships/hyperlink" Target="https://academy.langchain.com/courses/ambient-agents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dbreunig.com/2025/06/26/how-to-fix-your-context.html" TargetMode="External"/><Relationship Id="rId4" Type="http://schemas.openxmlformats.org/officeDocument/2006/relationships/hyperlink" Target="https://www.dbreunig.com/2025/06/26/how-to-fix-your-context.html" TargetMode="External"/><Relationship Id="rId5" Type="http://schemas.openxmlformats.org/officeDocument/2006/relationships/hyperlink" Target="https://github.com/langchain-ai/open_deep_research" TargetMode="External"/><Relationship Id="rId6" Type="http://schemas.openxmlformats.org/officeDocument/2006/relationships/hyperlink" Target="https://cognition.ai/blog/dont-build-multi-agents#a-theory-of-building-long-running-agents" TargetMode="External"/><Relationship Id="rId7" Type="http://schemas.openxmlformats.org/officeDocument/2006/relationships/hyperlink" Target="https://cognition.ai/blog/dont-build-multi-agents#a-theory-of-building-long-running-agents" TargetMode="External"/><Relationship Id="rId8" Type="http://schemas.openxmlformats.org/officeDocument/2006/relationships/hyperlink" Target="https://manus.im/blog/Context-Engineering-for-AI-Agents-Lessons-from-Building-Manu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x.com/_mohansolo/status/1899630246862966837?ref=blog.langchain.com" TargetMode="External"/><Relationship Id="rId4" Type="http://schemas.openxmlformats.org/officeDocument/2006/relationships/hyperlink" Target="https://lexfridman.com/cursor-team-transcript" TargetMode="External"/><Relationship Id="rId5" Type="http://schemas.openxmlformats.org/officeDocument/2006/relationships/hyperlink" Target="https://www.dbreunig.com/2025/06/26/how-to-fix-your-context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dbreunig.com/2025/06/26/how-to-fix-your-context.html" TargetMode="External"/><Relationship Id="rId4" Type="http://schemas.openxmlformats.org/officeDocument/2006/relationships/hyperlink" Target="https://www.anthropic.com/engineering/built-multi-agent-research-system" TargetMode="External"/><Relationship Id="rId9" Type="http://schemas.openxmlformats.org/officeDocument/2006/relationships/hyperlink" Target="https://github.com/langchain-ai/open_deep_research" TargetMode="External"/><Relationship Id="rId5" Type="http://schemas.openxmlformats.org/officeDocument/2006/relationships/hyperlink" Target="https://cognition.ai/blog/dont-build-multi-agents#a-theory-of-building-long-running-agents" TargetMode="External"/><Relationship Id="rId6" Type="http://schemas.openxmlformats.org/officeDocument/2006/relationships/hyperlink" Target="https://x.com/jxnlco/status/1945490018127987092" TargetMode="External"/><Relationship Id="rId7" Type="http://schemas.openxmlformats.org/officeDocument/2006/relationships/hyperlink" Target="https://cognition.ai/blog/dont-build-multi-agents#a-theory-of-building-long-running-agents" TargetMode="External"/><Relationship Id="rId8" Type="http://schemas.openxmlformats.org/officeDocument/2006/relationships/hyperlink" Target="https://x.com/jxnlco/status/1945490018127987092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manus.im/blog/Context-Engineering-for-AI-Agents-Lessons-from-Building-Manu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blog.langchain.com/open-deep-research/" TargetMode="External"/><Relationship Id="rId4" Type="http://schemas.openxmlformats.org/officeDocument/2006/relationships/hyperlink" Target="https://github.com/langchain-ai/open_deep_research" TargetMode="External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hyperlink" Target="https://blog.langchain.com/open-deep-research/" TargetMode="External"/><Relationship Id="rId5" Type="http://schemas.openxmlformats.org/officeDocument/2006/relationships/hyperlink" Target="https://github.com/langchain-ai/open_deep_research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hyperlink" Target="https://blog.langchain.com/open-deep-research/" TargetMode="External"/><Relationship Id="rId5" Type="http://schemas.openxmlformats.org/officeDocument/2006/relationships/hyperlink" Target="https://github.com/langchain-ai/open_deep_research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hyperlink" Target="https://blog.langchain.com/open-deep-research/" TargetMode="External"/><Relationship Id="rId5" Type="http://schemas.openxmlformats.org/officeDocument/2006/relationships/hyperlink" Target="https://github.com/langchain-ai/open_deep_research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hyperlink" Target="https://blog.langchain.com/open-deep-research/" TargetMode="External"/><Relationship Id="rId5" Type="http://schemas.openxmlformats.org/officeDocument/2006/relationships/hyperlink" Target="https://github.com/langchain-ai/open_deep_research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langchain-ai/how_to_fix_your_contex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882100" y="2202300"/>
            <a:ext cx="523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Context Engineering</a:t>
            </a:r>
            <a:endParaRPr b="1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@rlancemartin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descr=" " id="55" name="Google Shape;5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3851" y="4680050"/>
            <a:ext cx="2431324" cy="3860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6" name="Google Shape;5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8698" y="4755827"/>
            <a:ext cx="160211" cy="23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7" name="Google Shape;5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6391" y="4755827"/>
            <a:ext cx="204178" cy="2401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8" name="Google Shape;5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9932" y="4811381"/>
            <a:ext cx="142889" cy="184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59" name="Google Shape;5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94389" y="4811363"/>
            <a:ext cx="153644" cy="178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0" name="Google Shape;6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68686" y="4811363"/>
            <a:ext cx="165534" cy="24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1" name="Google Shape;6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81798" y="4755827"/>
            <a:ext cx="153644" cy="233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62" name="Google Shape;6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62738" y="4811381"/>
            <a:ext cx="215134" cy="18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376" y="881487"/>
            <a:ext cx="2529299" cy="34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2291025" y="1008712"/>
            <a:ext cx="2326500" cy="3162300"/>
          </a:xfrm>
          <a:prstGeom prst="rect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5773500" y="4789512"/>
            <a:ext cx="337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https://www.dbreunig.com/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654775" y="3360287"/>
            <a:ext cx="337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Context</a:t>
            </a: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engineering</a:t>
            </a:r>
            <a:endParaRPr b="1"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291025" y="4171000"/>
            <a:ext cx="232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E9E9E"/>
                </a:solidFill>
                <a:latin typeface="Courier New"/>
                <a:ea typeface="Courier New"/>
                <a:cs typeface="Courier New"/>
                <a:sym typeface="Courier New"/>
              </a:rPr>
              <a:t>Time</a:t>
            </a:r>
            <a:endParaRPr b="1" sz="1800">
              <a:solidFill>
                <a:srgbClr val="9E9E9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4875" y="315850"/>
            <a:ext cx="9017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Like Drew said, buzzwords </a:t>
            </a: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identify</a:t>
            </a: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common </a:t>
            </a: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experiences</a:t>
            </a:r>
            <a:endParaRPr b="1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654775" y="1244987"/>
            <a:ext cx="337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Prompt engineering</a:t>
            </a:r>
            <a:endParaRPr b="1"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" name="Google Shape;74;p14"/>
          <p:cNvSpPr txBox="1"/>
          <p:nvPr/>
        </p:nvSpPr>
        <p:spPr>
          <a:xfrm rot="-5400000">
            <a:off x="498225" y="2378200"/>
            <a:ext cx="317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E9E9E"/>
                </a:solidFill>
                <a:latin typeface="Courier New"/>
                <a:ea typeface="Courier New"/>
                <a:cs typeface="Courier New"/>
                <a:sym typeface="Courier New"/>
              </a:rPr>
              <a:t>Google Search Trends</a:t>
            </a:r>
            <a:endParaRPr b="1" sz="1800">
              <a:solidFill>
                <a:srgbClr val="9E9E9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376" y="881487"/>
            <a:ext cx="2529299" cy="34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2291025" y="1008712"/>
            <a:ext cx="2326500" cy="3162300"/>
          </a:xfrm>
          <a:prstGeom prst="rect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4654775" y="1244987"/>
            <a:ext cx="337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Prompt engineering</a:t>
            </a:r>
            <a:endParaRPr b="1"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654775" y="3360287"/>
            <a:ext cx="337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Context engineering</a:t>
            </a:r>
            <a:endParaRPr b="1"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3" name="Google Shape;83;p15"/>
          <p:cNvCxnSpPr/>
          <p:nvPr/>
        </p:nvCxnSpPr>
        <p:spPr>
          <a:xfrm>
            <a:off x="2663650" y="1008712"/>
            <a:ext cx="0" cy="31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5"/>
          <p:cNvSpPr txBox="1"/>
          <p:nvPr/>
        </p:nvSpPr>
        <p:spPr>
          <a:xfrm>
            <a:off x="1773026" y="4176075"/>
            <a:ext cx="1763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E9E9E"/>
                </a:solidFill>
                <a:latin typeface="Courier New"/>
                <a:ea typeface="Courier New"/>
                <a:cs typeface="Courier New"/>
                <a:sym typeface="Courier New"/>
              </a:rPr>
              <a:t>Dec, 2022</a:t>
            </a:r>
            <a:endParaRPr b="1" sz="1800">
              <a:solidFill>
                <a:srgbClr val="9E9E9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1954800" y="315850"/>
            <a:ext cx="523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ChatGPT</a:t>
            </a:r>
            <a:endParaRPr b="1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376" y="881487"/>
            <a:ext cx="2529299" cy="34350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2291025" y="1008712"/>
            <a:ext cx="2326500" cy="3162300"/>
          </a:xfrm>
          <a:prstGeom prst="rect">
            <a:avLst/>
          </a:prstGeom>
          <a:noFill/>
          <a:ln cap="flat" cmpd="sng" w="2857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4654775" y="1244987"/>
            <a:ext cx="337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Prompt engineering</a:t>
            </a:r>
            <a:endParaRPr b="1" sz="1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4654775" y="3360287"/>
            <a:ext cx="337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Context engineering</a:t>
            </a:r>
            <a:endParaRPr b="1"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4444053" y="1008712"/>
            <a:ext cx="0" cy="31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6"/>
          <p:cNvSpPr txBox="1"/>
          <p:nvPr/>
        </p:nvSpPr>
        <p:spPr>
          <a:xfrm>
            <a:off x="3553428" y="4176075"/>
            <a:ext cx="1763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E9E9E"/>
                </a:solidFill>
                <a:latin typeface="Courier New"/>
                <a:ea typeface="Courier New"/>
                <a:cs typeface="Courier New"/>
                <a:sym typeface="Courier New"/>
              </a:rPr>
              <a:t>May</a:t>
            </a:r>
            <a:r>
              <a:rPr b="1" lang="en" sz="1500">
                <a:solidFill>
                  <a:srgbClr val="9E9E9E"/>
                </a:solidFill>
                <a:latin typeface="Courier New"/>
                <a:ea typeface="Courier New"/>
                <a:cs typeface="Courier New"/>
                <a:sym typeface="Courier New"/>
              </a:rPr>
              <a:t>, 2025</a:t>
            </a:r>
            <a:endParaRPr b="1" sz="1800">
              <a:solidFill>
                <a:srgbClr val="9E9E9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1954800" y="315850"/>
            <a:ext cx="523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“Year of agents”</a:t>
            </a:r>
            <a:endParaRPr b="1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350" y="1079550"/>
            <a:ext cx="5917850" cy="33464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1954800" y="315850"/>
            <a:ext cx="523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Context grows w/ agents </a:t>
            </a:r>
            <a:endParaRPr b="1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1331395" y="4774200"/>
            <a:ext cx="781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https://langchain-ai.github.io/langgraph/tutorials/workflows/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/>
        </p:nvSpPr>
        <p:spPr>
          <a:xfrm>
            <a:off x="156000" y="1902150"/>
            <a:ext cx="883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Manus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Typical task in Manus requires around 50 tool calls</a:t>
            </a:r>
            <a:endParaRPr b="1" sz="15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Anthropic</a:t>
            </a:r>
            <a:endParaRPr b="1" sz="15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Production agents often engage in conversations spanning hundreds of turns</a:t>
            </a:r>
            <a:endParaRPr b="1" sz="15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654300" y="4589412"/>
            <a:ext cx="848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https://www.anthropic.com/engineering/built-multi-agent-research-system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https://manus.im/blog/Context-Engineering-for-AI-Agents-Lessons-from-Building-Manus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/>
        </p:nvSpPr>
        <p:spPr>
          <a:xfrm>
            <a:off x="2901000" y="4761475"/>
            <a:ext cx="6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https://research.trychroma.com/context-rot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1264583" y="2451438"/>
            <a:ext cx="4869300" cy="41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Performance drops as context grows 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9139" y="2253718"/>
            <a:ext cx="2289976" cy="86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156000" y="1209600"/>
            <a:ext cx="88320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Context Poisoning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Ex: 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Gemini playing Pokemon hallucinated an </a:t>
            </a:r>
            <a:r>
              <a:rPr b="1" lang="en" sz="1500">
                <a:solidFill>
                  <a:srgbClr val="9999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item + tried to re-use it</a:t>
            </a:r>
            <a:endParaRPr b="1" sz="15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Context Distraction</a:t>
            </a:r>
            <a:endParaRPr b="1" sz="15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Ex: Gemini favored repeated actions over new plans as context &gt; 100k tok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Context Confusion</a:t>
            </a:r>
            <a:endParaRPr b="1" sz="15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Ex: Models perform worse with more tools, esp if tools are similar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Context Clash</a:t>
            </a:r>
            <a:endParaRPr b="1" sz="15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Ex: Models perform worse if back-to-back tool calls contradict each other </a:t>
            </a:r>
            <a:endParaRPr b="1" sz="1500">
              <a:solidFill>
                <a:srgbClr val="99999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654300" y="4770562"/>
            <a:ext cx="848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https://www.dbreunig.com/2025/06/22/how-contexts-fail-and-how-to-fix-them.html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/>
        </p:nvSpPr>
        <p:spPr>
          <a:xfrm>
            <a:off x="114300" y="2364000"/>
            <a:ext cx="891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“Context engineering” captures the challenges of the moment</a:t>
            </a:r>
            <a:endParaRPr b="1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/>
        </p:nvSpPr>
        <p:spPr>
          <a:xfrm>
            <a:off x="2901000" y="4761475"/>
            <a:ext cx="624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https://x.com/karpathy/status/1937902205765607626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4763" y="1497550"/>
            <a:ext cx="7114475" cy="24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/>
        </p:nvSpPr>
        <p:spPr>
          <a:xfrm>
            <a:off x="4562700" y="4774200"/>
            <a:ext cx="45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https://x.com/swyx/status/1946100121038696671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9" name="Google Shape;139;p23" title="ScreenRecording_07-19-2025 20-24-38_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7750" y="106975"/>
            <a:ext cx="2608512" cy="47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/>
        </p:nvSpPr>
        <p:spPr>
          <a:xfrm>
            <a:off x="114300" y="2133150"/>
            <a:ext cx="8915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Many anecdotal </a:t>
            </a: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experiences, no common philosophy yet . . . </a:t>
            </a:r>
            <a:endParaRPr b="1" sz="1500">
              <a:solidFill>
                <a:srgbClr val="33333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3333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 . . some common themes</a:t>
            </a:r>
            <a:endParaRPr b="1" sz="1500">
              <a:solidFill>
                <a:srgbClr val="333333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/>
        </p:nvSpPr>
        <p:spPr>
          <a:xfrm>
            <a:off x="165100" y="1229800"/>
            <a:ext cx="8331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Offload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context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Use file system for notes 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(see: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Drew’s post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Anthropic multi-agent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Use file system (e.g., </a:t>
            </a:r>
            <a:r>
              <a:rPr b="1" lang="en" sz="1500" u="sng">
                <a:solidFill>
                  <a:schemeClr val="hlink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todo.md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 to plan/track progress (see: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Manus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Use file system read/write tok-heavy context 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(see: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Manus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Use files for long-term memories (see: Ambient Agents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course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/>
        </p:nvSpPr>
        <p:spPr>
          <a:xfrm>
            <a:off x="165100" y="1229800"/>
            <a:ext cx="8331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Reduce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context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Summarize agent message history (see: </a:t>
            </a:r>
            <a:r>
              <a:rPr b="1" lang="en" sz="1500" u="sng">
                <a:solidFill>
                  <a:schemeClr val="hlink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Drew’s post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Claude Code).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Prune irrelevant parts of message history (see: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Drew’s post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Summarize / prune t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ool call outputs (see: </a:t>
            </a:r>
            <a:r>
              <a:rPr b="1" lang="en" sz="1500" u="sng">
                <a:solidFill>
                  <a:schemeClr val="hlink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open-deep-research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Summarize / prune at a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gent-agent handoffs (see: </a:t>
            </a:r>
            <a:r>
              <a:rPr b="1" lang="en" sz="1500" u="sng">
                <a:solidFill>
                  <a:schemeClr val="hlink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Cognition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But, care careful of information loss (see: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Cognition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and </a:t>
            </a:r>
            <a:r>
              <a:rPr b="1" lang="en" sz="1500" u="sng">
                <a:solidFill>
                  <a:schemeClr val="hlink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8"/>
              </a:rPr>
              <a:t>Manus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)!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/>
        </p:nvSpPr>
        <p:spPr>
          <a:xfrm>
            <a:off x="490800" y="4774200"/>
            <a:ext cx="865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165100" y="1229800"/>
            <a:ext cx="8940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Retrieve context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Mix of retrieval methods + re-ranking (see: Varun’s </a:t>
            </a:r>
            <a:r>
              <a:rPr b="1" lang="en" sz="1500" u="sng">
                <a:solidFill>
                  <a:schemeClr val="hlink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take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from Windsurf).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Systems to assemble retrievals into prompts (see: </a:t>
            </a:r>
            <a:r>
              <a:rPr b="1" lang="en" sz="1500" u="sng">
                <a:solidFill>
                  <a:schemeClr val="hlink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Preempt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in Cursor).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Retrieve relevant tools based upon tool descriptions (see: </a:t>
            </a:r>
            <a:r>
              <a:rPr b="1" lang="en" sz="1500" u="sng">
                <a:solidFill>
                  <a:schemeClr val="hlink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Drew’s post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/>
        </p:nvSpPr>
        <p:spPr>
          <a:xfrm>
            <a:off x="165100" y="1229800"/>
            <a:ext cx="8331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Isolate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context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Split context across multi-agents (see: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Drew’s post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Anthropic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But, be careful 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(see: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Cognition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Walden Yan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)! 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Multi-agents make conflicting decisions (see: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Cognition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Walden Yan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Sub-agents lower risk if avoid decisions (see: </a:t>
            </a:r>
            <a:r>
              <a:rPr b="1" lang="en" sz="1500" u="sng">
                <a:solidFill>
                  <a:schemeClr val="accent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open-deep-research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/>
        </p:nvSpPr>
        <p:spPr>
          <a:xfrm>
            <a:off x="490800" y="4774200"/>
            <a:ext cx="865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https://manus.im/blog/Context-Engineering-for-AI-Agents-Lessons-from-Building-Manus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165100" y="1229800"/>
            <a:ext cx="8331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Cache Context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Cached input tokens for Claude-sonnet 10x cheaper!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Cache agent 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instructions, 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tool 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descriptions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to prefix.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Add mutable context / recent observations to suffix.</a:t>
            </a:r>
            <a:endParaRPr b="1" sz="1500">
              <a:solidFill>
                <a:srgbClr val="999999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/>
        </p:nvSpPr>
        <p:spPr>
          <a:xfrm>
            <a:off x="1954800" y="2364000"/>
            <a:ext cx="523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3333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Let’s see an example</a:t>
            </a:r>
            <a:endParaRPr b="1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/>
        </p:nvSpPr>
        <p:spPr>
          <a:xfrm>
            <a:off x="654300" y="4589412"/>
            <a:ext cx="848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https://blog.langchain.com/open-deep-research/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https://github.com/langchain-ai/open_deep_research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225150"/>
            <a:ext cx="8839204" cy="2693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5150"/>
            <a:ext cx="8839204" cy="269319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/>
          <p:nvPr/>
        </p:nvSpPr>
        <p:spPr>
          <a:xfrm>
            <a:off x="2689875" y="2862550"/>
            <a:ext cx="190800" cy="190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"/>
          <p:cNvSpPr txBox="1"/>
          <p:nvPr/>
        </p:nvSpPr>
        <p:spPr>
          <a:xfrm>
            <a:off x="711600" y="3613625"/>
            <a:ext cx="77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Offload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Create 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brief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from chat and save to state.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654300" y="4589412"/>
            <a:ext cx="848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https://blog.langchain.com/open-deep-research/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https://github.com/langchain-ai/open_deep_research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5150"/>
            <a:ext cx="8839204" cy="2693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3"/>
          <p:cNvSpPr txBox="1"/>
          <p:nvPr/>
        </p:nvSpPr>
        <p:spPr>
          <a:xfrm>
            <a:off x="711600" y="3613625"/>
            <a:ext cx="772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Offload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Use brief later to steer writing/research.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97" name="Google Shape;197;p33"/>
          <p:cNvSpPr txBox="1"/>
          <p:nvPr/>
        </p:nvSpPr>
        <p:spPr>
          <a:xfrm>
            <a:off x="654300" y="4589412"/>
            <a:ext cx="848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https://blog.langchain.com/open-deep-research/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https://github.com/langchain-ai/open_deep_research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Google Shape;198;p33"/>
          <p:cNvSpPr/>
          <p:nvPr/>
        </p:nvSpPr>
        <p:spPr>
          <a:xfrm>
            <a:off x="5688725" y="2917075"/>
            <a:ext cx="190800" cy="190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3"/>
          <p:cNvSpPr/>
          <p:nvPr/>
        </p:nvSpPr>
        <p:spPr>
          <a:xfrm>
            <a:off x="7249675" y="2862550"/>
            <a:ext cx="190800" cy="190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5150"/>
            <a:ext cx="8839204" cy="269319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4"/>
          <p:cNvSpPr txBox="1"/>
          <p:nvPr/>
        </p:nvSpPr>
        <p:spPr>
          <a:xfrm>
            <a:off x="654300" y="4589412"/>
            <a:ext cx="848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https://blog.langchain.com/open-deep-research/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https://github.com/langchain-ai/open_deep_research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5688725" y="2917075"/>
            <a:ext cx="190800" cy="190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4"/>
          <p:cNvSpPr txBox="1"/>
          <p:nvPr/>
        </p:nvSpPr>
        <p:spPr>
          <a:xfrm>
            <a:off x="355800" y="3604525"/>
            <a:ext cx="843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Reduce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Summarize the observations from tool calls + agent research.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5150"/>
            <a:ext cx="8839204" cy="269319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5"/>
          <p:cNvSpPr txBox="1"/>
          <p:nvPr/>
        </p:nvSpPr>
        <p:spPr>
          <a:xfrm>
            <a:off x="654300" y="4589412"/>
            <a:ext cx="848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https://blog.langchain.com/open-deep-research/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https://github.com/langchain-ai/open_deep_research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" name="Google Shape;214;p35"/>
          <p:cNvSpPr/>
          <p:nvPr/>
        </p:nvSpPr>
        <p:spPr>
          <a:xfrm>
            <a:off x="5688725" y="2917075"/>
            <a:ext cx="190800" cy="190800"/>
          </a:xfrm>
          <a:prstGeom prst="ellipse">
            <a:avLst/>
          </a:prstGeom>
          <a:solidFill>
            <a:srgbClr val="999999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5"/>
          <p:cNvSpPr txBox="1"/>
          <p:nvPr/>
        </p:nvSpPr>
        <p:spPr>
          <a:xfrm>
            <a:off x="355800" y="3604525"/>
            <a:ext cx="843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Isolate</a:t>
            </a:r>
            <a:r>
              <a:rPr b="1" lang="en" sz="1500">
                <a:solidFill>
                  <a:srgbClr val="9999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Isolate context across sub-agents.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36"/>
          <p:cNvGraphicFramePr/>
          <p:nvPr/>
        </p:nvGraphicFramePr>
        <p:xfrm>
          <a:off x="61925" y="15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{904B3496-6944-451E-9C56-0B8F801E9FF6}</a:tableStyleId>
              </a:tblPr>
              <a:tblGrid>
                <a:gridCol w="1959375"/>
                <a:gridCol w="1310600"/>
                <a:gridCol w="1491700"/>
                <a:gridCol w="1303650"/>
                <a:gridCol w="1496125"/>
                <a:gridCol w="1449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Offload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Reduce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Retrieve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Isolate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Cache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Drew’s Post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Not 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Manus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Discouraged [1]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Not 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Not 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Anthropic-</a:t>
                      </a: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researcher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Not 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Cognition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Not 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Not 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Discouraged [2]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Not 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LC open-deep-research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Not discussed</a:t>
                      </a:r>
                      <a:endParaRPr b="1"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36"/>
          <p:cNvSpPr txBox="1"/>
          <p:nvPr/>
        </p:nvSpPr>
        <p:spPr>
          <a:xfrm>
            <a:off x="1078000" y="3867250"/>
            <a:ext cx="799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[1] Information loss risk w compression is a problem. Favors offloading instead.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[2] Coordination problems w multi-agent is a risk.</a:t>
            </a:r>
            <a:endParaRPr b="1"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475" y="152400"/>
            <a:ext cx="425702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/>
        </p:nvSpPr>
        <p:spPr>
          <a:xfrm>
            <a:off x="58650" y="2325450"/>
            <a:ext cx="902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https://github.com/langchain-ai/how_to_fix_your_context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